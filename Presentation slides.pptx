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28"/>
    <p:sldId id="257" r:id="rId29"/>
    <p:sldId id="258" r:id="rId30"/>
    <p:sldId id="259" r:id="rId31"/>
    <p:sldId id="260" r:id="rId32"/>
    <p:sldId id="261" r:id="rId33"/>
    <p:sldId id="262" r:id="rId34"/>
    <p:sldId id="263" r:id="rId35"/>
    <p:sldId id="264" r:id="rId36"/>
    <p:sldId id="265" r:id="rId37"/>
    <p:sldId id="266" r:id="rId38"/>
    <p:sldId id="267" r:id="rId39"/>
    <p:sldId id="268" r:id="rId40"/>
    <p:sldId id="269" r:id="rId41"/>
    <p:sldId id="270" r:id="rId42"/>
    <p:sldId id="271" r:id="rId43"/>
    <p:sldId id="272" r:id="rId44"/>
    <p:sldId id="273" r:id="rId45"/>
    <p:sldId id="274" r:id="rId46"/>
    <p:sldId id="275" r:id="rId47"/>
    <p:sldId id="276" r:id="rId48"/>
    <p:sldId id="277" r:id="rId49"/>
    <p:sldId id="278" r:id="rId50"/>
    <p:sldId id="279" r:id="rId51"/>
    <p:sldId id="280" r:id="rId52"/>
  </p:sldIdLst>
  <p:sldSz cx="18288000" cy="10287000"/>
  <p:notesSz cx="6858000" cy="9144000"/>
  <p:embeddedFontLst>
    <p:embeddedFont>
      <p:font typeface="Montserrat Classic" charset="1" panose="00000500000000000000"/>
      <p:regular r:id="rId6"/>
    </p:embeddedFont>
    <p:embeddedFont>
      <p:font typeface="Montserrat Classic Bold" charset="1" panose="00000800000000000000"/>
      <p:regular r:id="rId7"/>
    </p:embeddedFont>
    <p:embeddedFont>
      <p:font typeface="Selima" charset="1" panose="02000000000000000000"/>
      <p:regular r:id="rId8"/>
    </p:embeddedFont>
    <p:embeddedFont>
      <p:font typeface="Arimo" charset="1" panose="020B0604020202020204"/>
      <p:regular r:id="rId9"/>
    </p:embeddedFont>
    <p:embeddedFont>
      <p:font typeface="Arimo Bold" charset="1" panose="020B0704020202020204"/>
      <p:regular r:id="rId10"/>
    </p:embeddedFont>
    <p:embeddedFont>
      <p:font typeface="Arimo Italics" charset="1" panose="020B0604020202090204"/>
      <p:regular r:id="rId11"/>
    </p:embeddedFont>
    <p:embeddedFont>
      <p:font typeface="Arimo Bold Italics" charset="1" panose="020B0704020202090204"/>
      <p:regular r:id="rId12"/>
    </p:embeddedFont>
    <p:embeddedFont>
      <p:font typeface="League Spartan" charset="1" panose="00000800000000000000"/>
      <p:regular r:id="rId13"/>
    </p:embeddedFont>
    <p:embeddedFont>
      <p:font typeface="Signika" charset="1" panose="02010003020600000004"/>
      <p:regular r:id="rId14"/>
    </p:embeddedFont>
    <p:embeddedFont>
      <p:font typeface="Signika Bold" charset="1" panose="02010003020600000004"/>
      <p:regular r:id="rId15"/>
    </p:embeddedFont>
    <p:embeddedFont>
      <p:font typeface="Open Sans" charset="1" panose="020B0606030504020204"/>
      <p:regular r:id="rId16"/>
    </p:embeddedFont>
    <p:embeddedFont>
      <p:font typeface="Open Sans Bold" charset="1" panose="020B0806030504020204"/>
      <p:regular r:id="rId17"/>
    </p:embeddedFont>
    <p:embeddedFont>
      <p:font typeface="Open Sans Italics" charset="1" panose="020B0606030504020204"/>
      <p:regular r:id="rId18"/>
    </p:embeddedFont>
    <p:embeddedFont>
      <p:font typeface="Open Sans Bold Italics" charset="1" panose="020B0806030504020204"/>
      <p:regular r:id="rId19"/>
    </p:embeddedFont>
    <p:embeddedFont>
      <p:font typeface="Nunito Sans Regular" charset="1" panose="00000500000000000000"/>
      <p:regular r:id="rId20"/>
    </p:embeddedFont>
    <p:embeddedFont>
      <p:font typeface="Nunito Sans Regular Bold" charset="1" panose="00000700000000000000"/>
      <p:regular r:id="rId21"/>
    </p:embeddedFont>
    <p:embeddedFont>
      <p:font typeface="Nunito Sans Regular Italics" charset="1" panose="00000500000000000000"/>
      <p:regular r:id="rId22"/>
    </p:embeddedFont>
    <p:embeddedFont>
      <p:font typeface="Nunito Sans Regular Bold Italics" charset="1" panose="00000700000000000000"/>
      <p:regular r:id="rId23"/>
    </p:embeddedFont>
    <p:embeddedFont>
      <p:font typeface="Nunito Sans Extra Light" charset="1" panose="00000300000000000000"/>
      <p:regular r:id="rId24"/>
    </p:embeddedFont>
    <p:embeddedFont>
      <p:font typeface="Nunito Sans Extra Light Bold" charset="1" panose="00000400000000000000"/>
      <p:regular r:id="rId25"/>
    </p:embeddedFont>
    <p:embeddedFont>
      <p:font typeface="Nunito Sans Extra Light Italics" charset="1" panose="00000300000000000000"/>
      <p:regular r:id="rId26"/>
    </p:embeddedFont>
    <p:embeddedFont>
      <p:font typeface="Nunito Sans Extra Light Bold Italics" charset="1" panose="000004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slides/slide1.xml" Type="http://schemas.openxmlformats.org/officeDocument/2006/relationships/slide"/><Relationship Id="rId29" Target="slides/slide2.xml" Type="http://schemas.openxmlformats.org/officeDocument/2006/relationships/slide"/><Relationship Id="rId3" Target="viewProps.xml" Type="http://schemas.openxmlformats.org/officeDocument/2006/relationships/viewProps"/><Relationship Id="rId30" Target="slides/slide3.xml" Type="http://schemas.openxmlformats.org/officeDocument/2006/relationships/slide"/><Relationship Id="rId31" Target="slides/slide4.xml" Type="http://schemas.openxmlformats.org/officeDocument/2006/relationships/slide"/><Relationship Id="rId32" Target="slides/slide5.xml" Type="http://schemas.openxmlformats.org/officeDocument/2006/relationships/slide"/><Relationship Id="rId33" Target="slides/slide6.xml" Type="http://schemas.openxmlformats.org/officeDocument/2006/relationships/slide"/><Relationship Id="rId34" Target="slides/slide7.xml" Type="http://schemas.openxmlformats.org/officeDocument/2006/relationships/slide"/><Relationship Id="rId35" Target="slides/slide8.xml" Type="http://schemas.openxmlformats.org/officeDocument/2006/relationships/slide"/><Relationship Id="rId36" Target="slides/slide9.xml" Type="http://schemas.openxmlformats.org/officeDocument/2006/relationships/slide"/><Relationship Id="rId37" Target="slides/slide10.xml" Type="http://schemas.openxmlformats.org/officeDocument/2006/relationships/slide"/><Relationship Id="rId38" Target="slides/slide11.xml" Type="http://schemas.openxmlformats.org/officeDocument/2006/relationships/slide"/><Relationship Id="rId39" Target="slides/slide12.xml" Type="http://schemas.openxmlformats.org/officeDocument/2006/relationships/slide"/><Relationship Id="rId4" Target="theme/theme1.xml" Type="http://schemas.openxmlformats.org/officeDocument/2006/relationships/theme"/><Relationship Id="rId40" Target="slides/slide13.xml" Type="http://schemas.openxmlformats.org/officeDocument/2006/relationships/slide"/><Relationship Id="rId41" Target="slides/slide14.xml" Type="http://schemas.openxmlformats.org/officeDocument/2006/relationships/slide"/><Relationship Id="rId42" Target="slides/slide15.xml" Type="http://schemas.openxmlformats.org/officeDocument/2006/relationships/slide"/><Relationship Id="rId43" Target="slides/slide16.xml" Type="http://schemas.openxmlformats.org/officeDocument/2006/relationships/slide"/><Relationship Id="rId44" Target="slides/slide17.xml" Type="http://schemas.openxmlformats.org/officeDocument/2006/relationships/slide"/><Relationship Id="rId45" Target="slides/slide18.xml" Type="http://schemas.openxmlformats.org/officeDocument/2006/relationships/slide"/><Relationship Id="rId46" Target="slides/slide19.xml" Type="http://schemas.openxmlformats.org/officeDocument/2006/relationships/slide"/><Relationship Id="rId47" Target="slides/slide20.xml" Type="http://schemas.openxmlformats.org/officeDocument/2006/relationships/slide"/><Relationship Id="rId48" Target="slides/slide21.xml" Type="http://schemas.openxmlformats.org/officeDocument/2006/relationships/slide"/><Relationship Id="rId49" Target="slides/slide22.xml" Type="http://schemas.openxmlformats.org/officeDocument/2006/relationships/slide"/><Relationship Id="rId5" Target="tableStyles.xml" Type="http://schemas.openxmlformats.org/officeDocument/2006/relationships/tableStyles"/><Relationship Id="rId50" Target="slides/slide23.xml" Type="http://schemas.openxmlformats.org/officeDocument/2006/relationships/slide"/><Relationship Id="rId51" Target="slides/slide24.xml" Type="http://schemas.openxmlformats.org/officeDocument/2006/relationships/slide"/><Relationship Id="rId52" Target="slides/slide25.xml" Type="http://schemas.openxmlformats.org/officeDocument/2006/relationships/slide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Relationship Id="rId5" Target="../media/image5.jpe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6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8966" y="5389437"/>
            <a:ext cx="7530313" cy="3470466"/>
            <a:chOff x="0" y="0"/>
            <a:chExt cx="10040417" cy="462728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28600"/>
              <a:ext cx="10040417" cy="2652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800"/>
                </a:lnSpc>
                <a:spcBef>
                  <a:spcPct val="0"/>
                </a:spcBef>
              </a:pPr>
              <a:r>
                <a:rPr lang="en-US" sz="12000">
                  <a:solidFill>
                    <a:srgbClr val="F8F8F8"/>
                  </a:solidFill>
                  <a:latin typeface="Nunito Sans Extra Light Bold"/>
                </a:rPr>
                <a:t>CatchUp</a:t>
              </a:r>
            </a:p>
          </p:txBody>
        </p:sp>
        <p:grpSp>
          <p:nvGrpSpPr>
            <p:cNvPr name="Group 4" id="4"/>
            <p:cNvGrpSpPr/>
            <p:nvPr/>
          </p:nvGrpSpPr>
          <p:grpSpPr>
            <a:xfrm rot="0">
              <a:off x="0" y="3255176"/>
              <a:ext cx="7645605" cy="1372112"/>
              <a:chOff x="0" y="0"/>
              <a:chExt cx="10664471" cy="1913890"/>
            </a:xfrm>
          </p:grpSpPr>
          <p:sp>
            <p:nvSpPr>
              <p:cNvPr name="Freeform 5" id="5"/>
              <p:cNvSpPr/>
              <p:nvPr/>
            </p:nvSpPr>
            <p:spPr>
              <a:xfrm>
                <a:off x="0" y="0"/>
                <a:ext cx="10664471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0664471">
                    <a:moveTo>
                      <a:pt x="10540011" y="1913890"/>
                    </a:moveTo>
                    <a:lnTo>
                      <a:pt x="124460" y="1913890"/>
                    </a:lnTo>
                    <a:cubicBezTo>
                      <a:pt x="55880" y="1913890"/>
                      <a:pt x="0" y="1858010"/>
                      <a:pt x="0" y="178943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0540011" y="0"/>
                    </a:lnTo>
                    <a:cubicBezTo>
                      <a:pt x="10608590" y="0"/>
                      <a:pt x="10664471" y="55880"/>
                      <a:pt x="10664471" y="124460"/>
                    </a:cubicBezTo>
                    <a:lnTo>
                      <a:pt x="10664471" y="1789430"/>
                    </a:lnTo>
                    <a:cubicBezTo>
                      <a:pt x="10664471" y="1858010"/>
                      <a:pt x="10608590" y="1913890"/>
                      <a:pt x="10540011" y="1913890"/>
                    </a:cubicBezTo>
                    <a:close/>
                  </a:path>
                </a:pathLst>
              </a:custGeom>
              <a:solidFill>
                <a:srgbClr val="521887"/>
              </a:solidFill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603805" y="3260983"/>
              <a:ext cx="6437995" cy="13541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33"/>
                </a:lnSpc>
                <a:spcBef>
                  <a:spcPct val="0"/>
                </a:spcBef>
              </a:pPr>
              <a:r>
                <a:rPr lang="en-US" spc="88" sz="2952">
                  <a:solidFill>
                    <a:srgbClr val="F8F8F8"/>
                  </a:solidFill>
                  <a:latin typeface="Nunito Sans Regular"/>
                </a:rPr>
                <a:t>You'll never forget anything again.</a:t>
              </a: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7798779" y="1028700"/>
            <a:ext cx="9734025" cy="83914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7654" r="0" b="7654"/>
          <a:stretch>
            <a:fillRect/>
          </a:stretch>
        </p:blipFill>
        <p:spPr>
          <a:xfrm flipH="false" flipV="false" rot="0">
            <a:off x="1028700" y="3900010"/>
            <a:ext cx="2936511" cy="2486981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120049" y="6887928"/>
            <a:ext cx="2884485" cy="631313"/>
            <a:chOff x="0" y="0"/>
            <a:chExt cx="8806451" cy="1927425"/>
          </a:xfrm>
        </p:grpSpPr>
        <p:sp>
          <p:nvSpPr>
            <p:cNvPr name="Freeform 4" id="4"/>
            <p:cNvSpPr/>
            <p:nvPr/>
          </p:nvSpPr>
          <p:spPr>
            <a:xfrm>
              <a:off x="0" y="0"/>
              <a:ext cx="8806452" cy="1927425"/>
            </a:xfrm>
            <a:custGeom>
              <a:avLst/>
              <a:gdLst/>
              <a:ahLst/>
              <a:cxnLst/>
              <a:rect r="r" b="b" t="t" l="l"/>
              <a:pathLst>
                <a:path h="1927425" w="8806452">
                  <a:moveTo>
                    <a:pt x="8681991" y="1927425"/>
                  </a:moveTo>
                  <a:lnTo>
                    <a:pt x="124460" y="1927425"/>
                  </a:lnTo>
                  <a:cubicBezTo>
                    <a:pt x="55880" y="1927425"/>
                    <a:pt x="0" y="1871544"/>
                    <a:pt x="0" y="180296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681992" y="0"/>
                  </a:lnTo>
                  <a:cubicBezTo>
                    <a:pt x="8750571" y="0"/>
                    <a:pt x="8806452" y="55880"/>
                    <a:pt x="8806452" y="124460"/>
                  </a:cubicBezTo>
                  <a:lnTo>
                    <a:pt x="8806452" y="1802965"/>
                  </a:lnTo>
                  <a:cubicBezTo>
                    <a:pt x="8806452" y="1871545"/>
                    <a:pt x="8750571" y="1927425"/>
                    <a:pt x="8681992" y="1927425"/>
                  </a:cubicBezTo>
                  <a:close/>
                </a:path>
              </a:pathLst>
            </a:custGeom>
            <a:solidFill>
              <a:srgbClr val="9E6DF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26341" y="6887928"/>
            <a:ext cx="2884485" cy="631313"/>
            <a:chOff x="0" y="0"/>
            <a:chExt cx="8806451" cy="1927425"/>
          </a:xfrm>
        </p:grpSpPr>
        <p:sp>
          <p:nvSpPr>
            <p:cNvPr name="Freeform 6" id="6"/>
            <p:cNvSpPr/>
            <p:nvPr/>
          </p:nvSpPr>
          <p:spPr>
            <a:xfrm>
              <a:off x="0" y="0"/>
              <a:ext cx="8806452" cy="1927425"/>
            </a:xfrm>
            <a:custGeom>
              <a:avLst/>
              <a:gdLst/>
              <a:ahLst/>
              <a:cxnLst/>
              <a:rect r="r" b="b" t="t" l="l"/>
              <a:pathLst>
                <a:path h="1927425" w="8806452">
                  <a:moveTo>
                    <a:pt x="8681991" y="1927425"/>
                  </a:moveTo>
                  <a:lnTo>
                    <a:pt x="124460" y="1927425"/>
                  </a:lnTo>
                  <a:cubicBezTo>
                    <a:pt x="55880" y="1927425"/>
                    <a:pt x="0" y="1871544"/>
                    <a:pt x="0" y="180296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681992" y="0"/>
                  </a:lnTo>
                  <a:cubicBezTo>
                    <a:pt x="8750571" y="0"/>
                    <a:pt x="8806452" y="55880"/>
                    <a:pt x="8806452" y="124460"/>
                  </a:cubicBezTo>
                  <a:lnTo>
                    <a:pt x="8806452" y="1802965"/>
                  </a:lnTo>
                  <a:cubicBezTo>
                    <a:pt x="8806452" y="1871545"/>
                    <a:pt x="8750571" y="1927425"/>
                    <a:pt x="8681992" y="1927425"/>
                  </a:cubicBezTo>
                  <a:close/>
                </a:path>
              </a:pathLst>
            </a:custGeom>
            <a:solidFill>
              <a:srgbClr val="9E6DF7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149887" y="6887928"/>
            <a:ext cx="2884485" cy="631313"/>
            <a:chOff x="0" y="0"/>
            <a:chExt cx="8806451" cy="1927425"/>
          </a:xfrm>
        </p:grpSpPr>
        <p:sp>
          <p:nvSpPr>
            <p:cNvPr name="Freeform 8" id="8"/>
            <p:cNvSpPr/>
            <p:nvPr/>
          </p:nvSpPr>
          <p:spPr>
            <a:xfrm>
              <a:off x="0" y="0"/>
              <a:ext cx="8806452" cy="1927425"/>
            </a:xfrm>
            <a:custGeom>
              <a:avLst/>
              <a:gdLst/>
              <a:ahLst/>
              <a:cxnLst/>
              <a:rect r="r" b="b" t="t" l="l"/>
              <a:pathLst>
                <a:path h="1927425" w="8806452">
                  <a:moveTo>
                    <a:pt x="8681991" y="1927425"/>
                  </a:moveTo>
                  <a:lnTo>
                    <a:pt x="124460" y="1927425"/>
                  </a:lnTo>
                  <a:cubicBezTo>
                    <a:pt x="55880" y="1927425"/>
                    <a:pt x="0" y="1871544"/>
                    <a:pt x="0" y="180296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681992" y="0"/>
                  </a:lnTo>
                  <a:cubicBezTo>
                    <a:pt x="8750571" y="0"/>
                    <a:pt x="8806452" y="55880"/>
                    <a:pt x="8806452" y="124460"/>
                  </a:cubicBezTo>
                  <a:lnTo>
                    <a:pt x="8806452" y="1802965"/>
                  </a:lnTo>
                  <a:cubicBezTo>
                    <a:pt x="8806452" y="1871545"/>
                    <a:pt x="8750571" y="1927425"/>
                    <a:pt x="8681992" y="1927425"/>
                  </a:cubicBezTo>
                  <a:close/>
                </a:path>
              </a:pathLst>
            </a:custGeom>
            <a:solidFill>
              <a:srgbClr val="9E6DF7"/>
            </a:solidFill>
          </p:spPr>
        </p:sp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rcRect l="0" t="8363" r="0" b="28118"/>
          <a:stretch>
            <a:fillRect/>
          </a:stretch>
        </p:blipFill>
        <p:spPr>
          <a:xfrm flipH="false" flipV="false" rot="0">
            <a:off x="5274315" y="3900010"/>
            <a:ext cx="2936511" cy="2486981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rcRect l="0" t="596" r="0" b="596"/>
          <a:stretch>
            <a:fillRect/>
          </a:stretch>
        </p:blipFill>
        <p:spPr>
          <a:xfrm flipH="false" flipV="false" rot="0">
            <a:off x="10097861" y="3900010"/>
            <a:ext cx="2936511" cy="2486981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rcRect l="0" t="0" r="0" b="14163"/>
          <a:stretch>
            <a:fillRect/>
          </a:stretch>
        </p:blipFill>
        <p:spPr>
          <a:xfrm flipH="false" flipV="false" rot="0">
            <a:off x="14283466" y="3900010"/>
            <a:ext cx="2936511" cy="2486981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 rot="0">
            <a:off x="14374815" y="6887928"/>
            <a:ext cx="2884485" cy="631313"/>
            <a:chOff x="0" y="0"/>
            <a:chExt cx="8806451" cy="1927425"/>
          </a:xfrm>
        </p:grpSpPr>
        <p:sp>
          <p:nvSpPr>
            <p:cNvPr name="Freeform 13" id="13"/>
            <p:cNvSpPr/>
            <p:nvPr/>
          </p:nvSpPr>
          <p:spPr>
            <a:xfrm>
              <a:off x="0" y="0"/>
              <a:ext cx="8806452" cy="1927425"/>
            </a:xfrm>
            <a:custGeom>
              <a:avLst/>
              <a:gdLst/>
              <a:ahLst/>
              <a:cxnLst/>
              <a:rect r="r" b="b" t="t" l="l"/>
              <a:pathLst>
                <a:path h="1927425" w="8806452">
                  <a:moveTo>
                    <a:pt x="8681991" y="1927425"/>
                  </a:moveTo>
                  <a:lnTo>
                    <a:pt x="124460" y="1927425"/>
                  </a:lnTo>
                  <a:cubicBezTo>
                    <a:pt x="55880" y="1927425"/>
                    <a:pt x="0" y="1871544"/>
                    <a:pt x="0" y="180296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681992" y="0"/>
                  </a:lnTo>
                  <a:cubicBezTo>
                    <a:pt x="8750571" y="0"/>
                    <a:pt x="8806452" y="55880"/>
                    <a:pt x="8806452" y="124460"/>
                  </a:cubicBezTo>
                  <a:lnTo>
                    <a:pt x="8806452" y="1802965"/>
                  </a:lnTo>
                  <a:cubicBezTo>
                    <a:pt x="8806452" y="1871545"/>
                    <a:pt x="8750571" y="1927425"/>
                    <a:pt x="8681992" y="1927425"/>
                  </a:cubicBezTo>
                  <a:close/>
                </a:path>
              </a:pathLst>
            </a:custGeom>
            <a:solidFill>
              <a:srgbClr val="9E6DF7"/>
            </a:solidFill>
          </p:spPr>
        </p:sp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alphaModFix amt="50000"/>
          </a:blip>
          <a:srcRect l="0" t="0" r="0" b="0"/>
          <a:stretch>
            <a:fillRect/>
          </a:stretch>
        </p:blipFill>
        <p:spPr>
          <a:xfrm flipH="false" flipV="false" rot="8288587">
            <a:off x="15532449" y="-4719132"/>
            <a:ext cx="7607339" cy="7607339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3811955" y="7370927"/>
            <a:ext cx="7491117" cy="7326735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2536278" y="1261311"/>
            <a:ext cx="13215444" cy="108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  <a:spcBef>
                <a:spcPct val="0"/>
              </a:spcBef>
            </a:pPr>
            <a:r>
              <a:rPr lang="en-US" sz="6400">
                <a:solidFill>
                  <a:srgbClr val="000000"/>
                </a:solidFill>
                <a:latin typeface="Nunito Sans Regular"/>
              </a:rPr>
              <a:t>MEET OUR TEAM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45421" y="6998141"/>
            <a:ext cx="2233740" cy="37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7"/>
              </a:lnSpc>
              <a:spcBef>
                <a:spcPct val="0"/>
              </a:spcBef>
            </a:pPr>
            <a:r>
              <a:rPr lang="en-US" sz="2198">
                <a:solidFill>
                  <a:srgbClr val="F8F8F8"/>
                </a:solidFill>
                <a:latin typeface="Nunito Sans Regular"/>
              </a:rPr>
              <a:t>Ali Hamza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651714" y="6998141"/>
            <a:ext cx="2233740" cy="37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7"/>
              </a:lnSpc>
              <a:spcBef>
                <a:spcPct val="0"/>
              </a:spcBef>
            </a:pPr>
            <a:r>
              <a:rPr lang="en-US" sz="2198">
                <a:solidFill>
                  <a:srgbClr val="F8F8F8"/>
                </a:solidFill>
                <a:latin typeface="Nunito Sans Regular"/>
              </a:rPr>
              <a:t>Musa Haroon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75260" y="6998141"/>
            <a:ext cx="2233740" cy="37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7"/>
              </a:lnSpc>
              <a:spcBef>
                <a:spcPct val="0"/>
              </a:spcBef>
            </a:pPr>
            <a:r>
              <a:rPr lang="en-US" sz="2198">
                <a:solidFill>
                  <a:srgbClr val="F8F8F8"/>
                </a:solidFill>
                <a:latin typeface="Nunito Sans Regular"/>
              </a:rPr>
              <a:t>Aiyza Junaid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00187" y="6998141"/>
            <a:ext cx="2233740" cy="37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7"/>
              </a:lnSpc>
              <a:spcBef>
                <a:spcPct val="0"/>
              </a:spcBef>
            </a:pPr>
            <a:r>
              <a:rPr lang="en-US" sz="2198">
                <a:solidFill>
                  <a:srgbClr val="F8F8F8"/>
                </a:solidFill>
                <a:latin typeface="Nunito Sans Regular"/>
              </a:rPr>
              <a:t>Muneer Ahmad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45421" y="7704287"/>
            <a:ext cx="2233740" cy="37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7"/>
              </a:lnSpc>
              <a:spcBef>
                <a:spcPct val="0"/>
              </a:spcBef>
            </a:pPr>
            <a:r>
              <a:rPr lang="en-US" sz="2198">
                <a:solidFill>
                  <a:srgbClr val="9E6DF7"/>
                </a:solidFill>
                <a:latin typeface="Nunito Sans Regular Bold"/>
              </a:rPr>
              <a:t>Group Lead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25700" y="7704287"/>
            <a:ext cx="2233740" cy="37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7"/>
              </a:lnSpc>
              <a:spcBef>
                <a:spcPct val="0"/>
              </a:spcBef>
            </a:pPr>
            <a:r>
              <a:rPr lang="en-US" sz="2198">
                <a:solidFill>
                  <a:srgbClr val="9E6DF7"/>
                </a:solidFill>
                <a:latin typeface="Nunito Sans Regular Bold"/>
              </a:rPr>
              <a:t>Coding Expert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75260" y="7704287"/>
            <a:ext cx="2233740" cy="76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7"/>
              </a:lnSpc>
              <a:spcBef>
                <a:spcPct val="0"/>
              </a:spcBef>
            </a:pPr>
            <a:r>
              <a:rPr lang="en-US" sz="2198">
                <a:solidFill>
                  <a:srgbClr val="9E6DF7"/>
                </a:solidFill>
                <a:latin typeface="Nunito Sans Regular Bold"/>
              </a:rPr>
              <a:t>Design and testing expert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700187" y="7704287"/>
            <a:ext cx="2233740" cy="76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7"/>
              </a:lnSpc>
              <a:spcBef>
                <a:spcPct val="0"/>
              </a:spcBef>
            </a:pPr>
            <a:r>
              <a:rPr lang="en-US" sz="2198">
                <a:solidFill>
                  <a:srgbClr val="9E6DF7"/>
                </a:solidFill>
                <a:latin typeface="Nunito Sans Regular Bold"/>
              </a:rPr>
              <a:t>Requirement Expert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6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10229" t="0" r="10229" b="0"/>
          <a:stretch>
            <a:fillRect/>
          </a:stretch>
        </p:blipFill>
        <p:spPr>
          <a:xfrm flipH="false" flipV="false" rot="0">
            <a:off x="0" y="0"/>
            <a:ext cx="10907096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1105373" y="4599189"/>
            <a:ext cx="6984546" cy="2951389"/>
            <a:chOff x="0" y="0"/>
            <a:chExt cx="1839551" cy="777321"/>
          </a:xfrm>
        </p:grpSpPr>
        <p:sp>
          <p:nvSpPr>
            <p:cNvPr name="Freeform 4" id="4"/>
            <p:cNvSpPr/>
            <p:nvPr/>
          </p:nvSpPr>
          <p:spPr>
            <a:xfrm>
              <a:off x="203200" y="-623"/>
              <a:ext cx="1433151" cy="778566"/>
            </a:xfrm>
            <a:custGeom>
              <a:avLst/>
              <a:gdLst/>
              <a:ahLst/>
              <a:cxnLst/>
              <a:rect r="r" b="b" t="t" l="l"/>
              <a:pathLst>
                <a:path h="778566" w="1433151">
                  <a:moveTo>
                    <a:pt x="1433151" y="623"/>
                  </a:moveTo>
                  <a:cubicBezTo>
                    <a:pt x="1293882" y="0"/>
                    <a:pt x="1164925" y="73942"/>
                    <a:pt x="1095110" y="194450"/>
                  </a:cubicBezTo>
                  <a:cubicBezTo>
                    <a:pt x="1025295" y="314957"/>
                    <a:pt x="1025295" y="463609"/>
                    <a:pt x="1095110" y="584117"/>
                  </a:cubicBezTo>
                  <a:cubicBezTo>
                    <a:pt x="1164925" y="704625"/>
                    <a:pt x="1293882" y="778566"/>
                    <a:pt x="1433151" y="777944"/>
                  </a:cubicBezTo>
                  <a:lnTo>
                    <a:pt x="0" y="777944"/>
                  </a:lnTo>
                  <a:cubicBezTo>
                    <a:pt x="139269" y="778566"/>
                    <a:pt x="268226" y="704625"/>
                    <a:pt x="338041" y="584117"/>
                  </a:cubicBezTo>
                  <a:cubicBezTo>
                    <a:pt x="407856" y="463609"/>
                    <a:pt x="407856" y="314957"/>
                    <a:pt x="338041" y="194450"/>
                  </a:cubicBezTo>
                  <a:cubicBezTo>
                    <a:pt x="268226" y="73942"/>
                    <a:pt x="139269" y="0"/>
                    <a:pt x="0" y="623"/>
                  </a:cubicBezTo>
                  <a:close/>
                </a:path>
              </a:pathLst>
            </a:custGeom>
            <a:solidFill>
              <a:srgbClr val="52188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7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233988" y="3536659"/>
            <a:ext cx="4727315" cy="675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2"/>
              </a:lnSpc>
              <a:spcBef>
                <a:spcPct val="0"/>
              </a:spcBef>
            </a:pPr>
            <a:r>
              <a:rPr lang="en-US" sz="4200">
                <a:solidFill>
                  <a:srgbClr val="F8F8F8"/>
                </a:solidFill>
                <a:latin typeface="Nunito Sans Regular Bold"/>
              </a:rPr>
              <a:t>What is CatchUp??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03382" y="4893129"/>
            <a:ext cx="6188529" cy="2325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7"/>
              </a:lnSpc>
              <a:spcBef>
                <a:spcPct val="0"/>
              </a:spcBef>
            </a:pPr>
            <a:r>
              <a:rPr lang="en-US" sz="2198">
                <a:solidFill>
                  <a:srgbClr val="FFFFFF"/>
                </a:solidFill>
                <a:latin typeface="Nunito Sans Regular"/>
              </a:rPr>
              <a:t>CatchUp will help you manage and track your assignments and quizzes. Our management system will provide you with features that will range from alerting you when a new task is uploaded. It will also sort your schedule for you on the basis of task submission in priority.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3980" y="3891398"/>
            <a:ext cx="19215959" cy="3651092"/>
            <a:chOff x="0" y="0"/>
            <a:chExt cx="41516658" cy="7888295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41516657" cy="7888295"/>
            </a:xfrm>
            <a:custGeom>
              <a:avLst/>
              <a:gdLst/>
              <a:ahLst/>
              <a:cxnLst/>
              <a:rect r="r" b="b" t="t" l="l"/>
              <a:pathLst>
                <a:path h="7888295" w="41516657">
                  <a:moveTo>
                    <a:pt x="41392199" y="7888295"/>
                  </a:moveTo>
                  <a:lnTo>
                    <a:pt x="124460" y="7888295"/>
                  </a:lnTo>
                  <a:cubicBezTo>
                    <a:pt x="55880" y="7888295"/>
                    <a:pt x="0" y="7832415"/>
                    <a:pt x="0" y="776383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1392199" y="0"/>
                  </a:lnTo>
                  <a:cubicBezTo>
                    <a:pt x="41460778" y="0"/>
                    <a:pt x="41516657" y="55880"/>
                    <a:pt x="41516657" y="124460"/>
                  </a:cubicBezTo>
                  <a:lnTo>
                    <a:pt x="41516657" y="7763835"/>
                  </a:lnTo>
                  <a:cubicBezTo>
                    <a:pt x="41516657" y="7832415"/>
                    <a:pt x="41460778" y="7888295"/>
                    <a:pt x="41392199" y="7888295"/>
                  </a:cubicBezTo>
                  <a:close/>
                </a:path>
              </a:pathLst>
            </a:custGeom>
            <a:solidFill>
              <a:srgbClr val="9E6DF7"/>
            </a:solidFill>
          </p:spPr>
        </p:sp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7247942" y="1028700"/>
            <a:ext cx="20022715" cy="10029396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85825" y="2579873"/>
            <a:ext cx="7020057" cy="108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Nunito Sans Regular"/>
              </a:rPr>
              <a:t>ADVANTAGES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5825" y="3401306"/>
            <a:ext cx="8115300" cy="3998309"/>
            <a:chOff x="0" y="0"/>
            <a:chExt cx="10820400" cy="533107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03859"/>
              <a:ext cx="10820400" cy="4427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F8F8F8"/>
                  </a:solidFill>
                  <a:latin typeface="Nunito Sans Regular"/>
                </a:rPr>
                <a:t>CatchUp will remind your pending assignments and quizzes.</a:t>
              </a:r>
            </a:p>
            <a:p>
              <a:pPr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F8F8F8"/>
                  </a:solidFill>
                  <a:latin typeface="Nunito Sans Regular"/>
                </a:rPr>
                <a:t>CatchUp will provide a performance graph that you can use to track your progress. </a:t>
              </a:r>
            </a:p>
            <a:p>
              <a:pPr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F8F8F8"/>
                  </a:solidFill>
                  <a:latin typeface="Nunito Sans Regular"/>
                </a:rPr>
                <a:t>You may also use CatchUp to set reminders for non-academic occasions.</a:t>
              </a:r>
            </a:p>
            <a:p>
              <a:pPr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F8F8F8"/>
                  </a:solidFill>
                  <a:latin typeface="Nunito Sans Regular"/>
                </a:rPr>
                <a:t>CatchUp can also keep track of your previous academic records for a longer amount of time.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10820400" cy="563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63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18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3169840" y="1509531"/>
            <a:ext cx="12671009" cy="7267937"/>
            <a:chOff x="0" y="0"/>
            <a:chExt cx="7981950" cy="4578350"/>
          </a:xfrm>
        </p:grpSpPr>
        <p:sp>
          <p:nvSpPr>
            <p:cNvPr name="Freeform 3" id="3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E6DF7"/>
            </a:solidFill>
          </p:spPr>
        </p:sp>
        <p:sp>
          <p:nvSpPr>
            <p:cNvPr name="Freeform 5" id="5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521887"/>
            </a:solidFill>
          </p:spPr>
        </p:sp>
        <p:sp>
          <p:nvSpPr>
            <p:cNvPr name="Freeform 6" id="6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21887"/>
            </a:solidFill>
          </p:spPr>
        </p:sp>
        <p:sp>
          <p:nvSpPr>
            <p:cNvPr name="Freeform 7" id="7"/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2"/>
              <a:stretch>
                <a:fillRect l="0" r="0" t="-95468" b="-4391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0785" y="4088250"/>
            <a:ext cx="6465109" cy="3777316"/>
            <a:chOff x="0" y="0"/>
            <a:chExt cx="8620146" cy="5036421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726801"/>
              <a:ext cx="8620146" cy="3309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F8F8F8"/>
                  </a:solidFill>
                  <a:latin typeface="Nunito Sans Regular"/>
                </a:rPr>
                <a:t>User must have an up-to-date calendar.</a:t>
              </a:r>
            </a:p>
            <a:p>
              <a:pPr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F8F8F8"/>
                  </a:solidFill>
                  <a:latin typeface="Nunito Sans Regular"/>
                </a:rPr>
                <a:t>User must have an email address in order to use this application</a:t>
              </a:r>
            </a:p>
            <a:p>
              <a:pPr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F8F8F8"/>
                  </a:solidFill>
                  <a:latin typeface="Nunito Sans Regular"/>
                </a:rPr>
                <a:t>This application can only be used on a computer with a Windows operating system.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23825"/>
              <a:ext cx="8620146" cy="1407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960"/>
                </a:lnSpc>
                <a:spcBef>
                  <a:spcPct val="0"/>
                </a:spcBef>
              </a:pPr>
              <a:r>
                <a:rPr lang="en-US" sz="6400">
                  <a:solidFill>
                    <a:srgbClr val="F8F8F8"/>
                  </a:solidFill>
                  <a:latin typeface="Nunito Sans Regular"/>
                </a:rPr>
                <a:t>CONSTRAINTS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8930526" y="3288810"/>
            <a:ext cx="14692883" cy="699819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693226" y="1814334"/>
            <a:ext cx="7450774" cy="2343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9432"/>
              </a:lnSpc>
            </a:pPr>
            <a:r>
              <a:rPr lang="en-US" sz="7200">
                <a:solidFill>
                  <a:srgbClr val="000000"/>
                </a:solidFill>
                <a:latin typeface="Nunito Sans Regular"/>
              </a:rPr>
              <a:t>Nonfunctional</a:t>
            </a:r>
          </a:p>
          <a:p>
            <a:pPr>
              <a:lnSpc>
                <a:spcPts val="9432"/>
              </a:lnSpc>
            </a:pPr>
            <a:r>
              <a:rPr lang="en-US" sz="7200">
                <a:solidFill>
                  <a:srgbClr val="000000"/>
                </a:solidFill>
                <a:latin typeface="Nunito Sans Regular"/>
              </a:rPr>
              <a:t>Requirements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93226" y="5032765"/>
            <a:ext cx="5899454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9E6DF7"/>
                </a:solidFill>
                <a:latin typeface="Nunito Sans Regular"/>
              </a:rPr>
              <a:t>The dashboard shall display under 5 seconds after user has logged in.</a:t>
            </a:r>
          </a:p>
          <a:p>
            <a:pPr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9E6DF7"/>
                </a:solidFill>
                <a:latin typeface="Nunito Sans Regular"/>
              </a:rPr>
              <a:t>The system would provide access to only legitimate users. It will be secure on network and only authorized person can use it.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8502003" y="180476"/>
            <a:ext cx="9502008" cy="9975022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933450"/>
            <a:ext cx="6801504" cy="141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1360"/>
              </a:lnSpc>
            </a:pPr>
            <a:r>
              <a:rPr lang="en-US" sz="8672">
                <a:solidFill>
                  <a:srgbClr val="9E6DF7"/>
                </a:solidFill>
                <a:latin typeface="Nunito Sans Regular Bold"/>
              </a:rPr>
              <a:t>Design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83025" y="3569312"/>
            <a:ext cx="6223063" cy="3148377"/>
            <a:chOff x="0" y="0"/>
            <a:chExt cx="8297418" cy="419783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539750"/>
              <a:ext cx="8297418" cy="3181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00"/>
                </a:lnSpc>
              </a:pPr>
              <a:r>
                <a:rPr lang="en-US" sz="9000">
                  <a:solidFill>
                    <a:srgbClr val="F8F8F8"/>
                  </a:solidFill>
                  <a:latin typeface="Signika Bold"/>
                </a:rPr>
                <a:t>USE CASE DIAGRAM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691170" y="3788261"/>
              <a:ext cx="6915077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31"/>
                </a:lnSpc>
              </a:pPr>
              <a:r>
                <a:rPr lang="en-US" spc="187" sz="1875">
                  <a:solidFill>
                    <a:srgbClr val="F8F8F8"/>
                  </a:solidFill>
                  <a:latin typeface="Montserrat Classic"/>
                </a:rPr>
                <a:t>MADE BY MUNEER AHMAD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691170" y="-38100"/>
              <a:ext cx="6915077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31"/>
                </a:lnSpc>
              </a:pPr>
              <a:r>
                <a:rPr lang="en-US" spc="187" sz="1875">
                  <a:solidFill>
                    <a:srgbClr val="000000"/>
                  </a:solidFill>
                  <a:latin typeface="Montserrat Classic"/>
                </a:rPr>
                <a:t>EST 1995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7830204" y="818509"/>
            <a:ext cx="9477246" cy="8649983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933450"/>
            <a:ext cx="6801504" cy="141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1360"/>
              </a:lnSpc>
            </a:pPr>
            <a:r>
              <a:rPr lang="en-US" sz="8672">
                <a:solidFill>
                  <a:srgbClr val="9E6DF7"/>
                </a:solidFill>
                <a:latin typeface="Nunito Sans Regular Bold"/>
              </a:rPr>
              <a:t>Design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83025" y="3569312"/>
            <a:ext cx="6223063" cy="3148377"/>
            <a:chOff x="0" y="0"/>
            <a:chExt cx="8297418" cy="419783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539750"/>
              <a:ext cx="8297418" cy="3181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00"/>
                </a:lnSpc>
              </a:pPr>
              <a:r>
                <a:rPr lang="en-US" sz="9000">
                  <a:solidFill>
                    <a:srgbClr val="F8F8F8"/>
                  </a:solidFill>
                  <a:latin typeface="Signika Bold"/>
                </a:rPr>
                <a:t>SEQUENCE DIAGRAM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691170" y="3788261"/>
              <a:ext cx="6915077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31"/>
                </a:lnSpc>
              </a:pPr>
              <a:r>
                <a:rPr lang="en-US" spc="187" sz="1875">
                  <a:solidFill>
                    <a:srgbClr val="F8F8F8"/>
                  </a:solidFill>
                  <a:latin typeface="Montserrat Classic"/>
                </a:rPr>
                <a:t>MADE BY ALI HAMZA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691170" y="-38100"/>
              <a:ext cx="6915077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31"/>
                </a:lnSpc>
              </a:pPr>
              <a:r>
                <a:rPr lang="en-US" spc="187" sz="1875">
                  <a:solidFill>
                    <a:srgbClr val="000000"/>
                  </a:solidFill>
                  <a:latin typeface="Montserrat Classic"/>
                </a:rPr>
                <a:t>EST 1995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62222" y="9080897"/>
            <a:ext cx="3098959" cy="316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  <a:spcBef>
                <a:spcPct val="0"/>
              </a:spcBef>
            </a:pPr>
            <a:r>
              <a:rPr lang="en-US" spc="187" sz="1875">
                <a:solidFill>
                  <a:srgbClr val="F8F8F8"/>
                </a:solidFill>
                <a:latin typeface="Montserrat Classic"/>
              </a:rPr>
              <a:t>*NOTIFICATION ALERT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1859" r="0" b="1859"/>
          <a:stretch>
            <a:fillRect/>
          </a:stretch>
        </p:blipFill>
        <p:spPr>
          <a:xfrm flipH="false" flipV="false" rot="0">
            <a:off x="7830204" y="818509"/>
            <a:ext cx="9477246" cy="8649983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933450"/>
            <a:ext cx="6801504" cy="141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1360"/>
              </a:lnSpc>
            </a:pPr>
            <a:r>
              <a:rPr lang="en-US" sz="8672">
                <a:solidFill>
                  <a:srgbClr val="9E6DF7"/>
                </a:solidFill>
                <a:latin typeface="Nunito Sans Regular Bold"/>
              </a:rPr>
              <a:t>Design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83025" y="3569312"/>
            <a:ext cx="6223063" cy="3148377"/>
            <a:chOff x="0" y="0"/>
            <a:chExt cx="8297418" cy="419783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539750"/>
              <a:ext cx="8297418" cy="3181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00"/>
                </a:lnSpc>
              </a:pPr>
              <a:r>
                <a:rPr lang="en-US" sz="9000">
                  <a:solidFill>
                    <a:srgbClr val="F8F8F8"/>
                  </a:solidFill>
                  <a:latin typeface="Signika Bold"/>
                </a:rPr>
                <a:t>SEQUENCE DIAGRAM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691170" y="3788261"/>
              <a:ext cx="6915077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31"/>
                </a:lnSpc>
              </a:pPr>
              <a:r>
                <a:rPr lang="en-US" spc="187" sz="1875">
                  <a:solidFill>
                    <a:srgbClr val="F8F8F8"/>
                  </a:solidFill>
                  <a:latin typeface="Montserrat Classic"/>
                </a:rPr>
                <a:t>MADE BY ALI HAMZA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691170" y="-38100"/>
              <a:ext cx="6915077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31"/>
                </a:lnSpc>
              </a:pPr>
              <a:r>
                <a:rPr lang="en-US" spc="187" sz="1875">
                  <a:solidFill>
                    <a:srgbClr val="000000"/>
                  </a:solidFill>
                  <a:latin typeface="Montserrat Classic"/>
                </a:rPr>
                <a:t>EST 1995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56952" y="9080897"/>
            <a:ext cx="2800112" cy="316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  <a:spcBef>
                <a:spcPct val="0"/>
              </a:spcBef>
            </a:pPr>
            <a:r>
              <a:rPr lang="en-US" spc="187" sz="1875">
                <a:solidFill>
                  <a:srgbClr val="F8F8F8"/>
                </a:solidFill>
                <a:latin typeface="Montserrat Classic"/>
              </a:rPr>
              <a:t>*ADD NEW SUBJECT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3" t="0" r="23" b="0"/>
          <a:stretch>
            <a:fillRect/>
          </a:stretch>
        </p:blipFill>
        <p:spPr>
          <a:xfrm flipH="false" flipV="false" rot="0">
            <a:off x="7830204" y="818509"/>
            <a:ext cx="9477246" cy="8649983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933450"/>
            <a:ext cx="6801504" cy="141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1360"/>
              </a:lnSpc>
            </a:pPr>
            <a:r>
              <a:rPr lang="en-US" sz="8672">
                <a:solidFill>
                  <a:srgbClr val="9E6DF7"/>
                </a:solidFill>
                <a:latin typeface="Nunito Sans Regular Bold"/>
              </a:rPr>
              <a:t>Design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83025" y="3569312"/>
            <a:ext cx="6223063" cy="3148377"/>
            <a:chOff x="0" y="0"/>
            <a:chExt cx="8297418" cy="419783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539750"/>
              <a:ext cx="8297418" cy="3181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00"/>
                </a:lnSpc>
              </a:pPr>
              <a:r>
                <a:rPr lang="en-US" sz="9000">
                  <a:solidFill>
                    <a:srgbClr val="F8F8F8"/>
                  </a:solidFill>
                  <a:latin typeface="Signika Bold"/>
                </a:rPr>
                <a:t>SEQUENCE DIAGRAM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691170" y="3788261"/>
              <a:ext cx="6915077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31"/>
                </a:lnSpc>
              </a:pPr>
              <a:r>
                <a:rPr lang="en-US" spc="187" sz="1875">
                  <a:solidFill>
                    <a:srgbClr val="F8F8F8"/>
                  </a:solidFill>
                  <a:latin typeface="Montserrat Classic"/>
                </a:rPr>
                <a:t>MADE BY ALI HAMZA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691170" y="-38100"/>
              <a:ext cx="6915077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31"/>
                </a:lnSpc>
              </a:pPr>
              <a:r>
                <a:rPr lang="en-US" spc="187" sz="1875">
                  <a:solidFill>
                    <a:srgbClr val="000000"/>
                  </a:solidFill>
                  <a:latin typeface="Montserrat Classic"/>
                </a:rPr>
                <a:t>EST 1995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38298" y="9291088"/>
            <a:ext cx="5448436" cy="316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  <a:spcBef>
                <a:spcPct val="0"/>
              </a:spcBef>
            </a:pPr>
            <a:r>
              <a:rPr lang="en-US" spc="187" sz="1875">
                <a:solidFill>
                  <a:srgbClr val="F8F8F8"/>
                </a:solidFill>
                <a:latin typeface="Montserrat Classic"/>
              </a:rPr>
              <a:t>*DISPLAY PERFORMANCE STATISTICS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5503" t="0" r="5503" b="0"/>
          <a:stretch>
            <a:fillRect/>
          </a:stretch>
        </p:blipFill>
        <p:spPr>
          <a:xfrm flipH="false" flipV="false" rot="0">
            <a:off x="7830204" y="818509"/>
            <a:ext cx="9477246" cy="8649983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933450"/>
            <a:ext cx="6801504" cy="141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1360"/>
              </a:lnSpc>
            </a:pPr>
            <a:r>
              <a:rPr lang="en-US" sz="8672">
                <a:solidFill>
                  <a:srgbClr val="9E6DF7"/>
                </a:solidFill>
                <a:latin typeface="Nunito Sans Regular Bold"/>
              </a:rPr>
              <a:t>Design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83025" y="3569312"/>
            <a:ext cx="6223063" cy="3148377"/>
            <a:chOff x="0" y="0"/>
            <a:chExt cx="8297418" cy="419783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539750"/>
              <a:ext cx="8297418" cy="3181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00"/>
                </a:lnSpc>
              </a:pPr>
              <a:r>
                <a:rPr lang="en-US" sz="9000">
                  <a:solidFill>
                    <a:srgbClr val="F8F8F8"/>
                  </a:solidFill>
                  <a:latin typeface="Signika Bold"/>
                </a:rPr>
                <a:t>CLASS DIAGRAM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691170" y="3788261"/>
              <a:ext cx="6915077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31"/>
                </a:lnSpc>
              </a:pPr>
              <a:r>
                <a:rPr lang="en-US" spc="187" sz="1875">
                  <a:solidFill>
                    <a:srgbClr val="F8F8F8"/>
                  </a:solidFill>
                  <a:latin typeface="Montserrat Classic"/>
                </a:rPr>
                <a:t>MADE BY MUSA HAROON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691170" y="-38100"/>
              <a:ext cx="6915077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31"/>
                </a:lnSpc>
              </a:pPr>
              <a:r>
                <a:rPr lang="en-US" spc="187" sz="1875">
                  <a:solidFill>
                    <a:srgbClr val="000000"/>
                  </a:solidFill>
                  <a:latin typeface="Montserrat Classic"/>
                </a:rPr>
                <a:t>EST 1995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69" t="0" r="369" b="0"/>
          <a:stretch>
            <a:fillRect/>
          </a:stretch>
        </p:blipFill>
        <p:spPr>
          <a:xfrm flipH="false" flipV="false" rot="0">
            <a:off x="7830204" y="818509"/>
            <a:ext cx="9477246" cy="8649983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933450"/>
            <a:ext cx="6801504" cy="141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1360"/>
              </a:lnSpc>
            </a:pPr>
            <a:r>
              <a:rPr lang="en-US" sz="8672">
                <a:solidFill>
                  <a:srgbClr val="9E6DF7"/>
                </a:solidFill>
                <a:latin typeface="Nunito Sans Regular Bold"/>
              </a:rPr>
              <a:t>Design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83025" y="3569312"/>
            <a:ext cx="6223063" cy="3148377"/>
            <a:chOff x="0" y="0"/>
            <a:chExt cx="8297418" cy="419783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539750"/>
              <a:ext cx="8297418" cy="3181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00"/>
                </a:lnSpc>
              </a:pPr>
              <a:r>
                <a:rPr lang="en-US" sz="9000">
                  <a:solidFill>
                    <a:srgbClr val="F8F8F8"/>
                  </a:solidFill>
                  <a:latin typeface="Signika Bold"/>
                </a:rPr>
                <a:t>ACTIVITY DIAGRAM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691170" y="3788261"/>
              <a:ext cx="6915077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31"/>
                </a:lnSpc>
              </a:pPr>
              <a:r>
                <a:rPr lang="en-US" spc="187" sz="1875">
                  <a:solidFill>
                    <a:srgbClr val="F8F8F8"/>
                  </a:solidFill>
                  <a:latin typeface="Montserrat Classic"/>
                </a:rPr>
                <a:t>MADE BY AIYZA JUNAID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691170" y="-38100"/>
              <a:ext cx="6915077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31"/>
                </a:lnSpc>
              </a:pPr>
              <a:r>
                <a:rPr lang="en-US" spc="187" sz="1875">
                  <a:solidFill>
                    <a:srgbClr val="000000"/>
                  </a:solidFill>
                  <a:latin typeface="Montserrat Classic"/>
                </a:rPr>
                <a:t>EST 1995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96121" y="9080897"/>
            <a:ext cx="5010137" cy="316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  <a:spcBef>
                <a:spcPct val="0"/>
              </a:spcBef>
            </a:pPr>
            <a:r>
              <a:rPr lang="en-US" spc="187" sz="1875">
                <a:solidFill>
                  <a:srgbClr val="F8F8F8"/>
                </a:solidFill>
                <a:latin typeface="Montserrat Classic"/>
              </a:rPr>
              <a:t>*ADDING PERSONAL INFORMATION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1592" t="0" r="1592" b="0"/>
          <a:stretch>
            <a:fillRect/>
          </a:stretch>
        </p:blipFill>
        <p:spPr>
          <a:xfrm flipH="false" flipV="false" rot="0">
            <a:off x="7830204" y="818509"/>
            <a:ext cx="9477246" cy="8649983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933450"/>
            <a:ext cx="6801504" cy="141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1360"/>
              </a:lnSpc>
            </a:pPr>
            <a:r>
              <a:rPr lang="en-US" sz="8672">
                <a:solidFill>
                  <a:srgbClr val="9E6DF7"/>
                </a:solidFill>
                <a:latin typeface="Nunito Sans Regular Bold"/>
              </a:rPr>
              <a:t>Design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83025" y="3569312"/>
            <a:ext cx="6223063" cy="3148377"/>
            <a:chOff x="0" y="0"/>
            <a:chExt cx="8297418" cy="419783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539750"/>
              <a:ext cx="8297418" cy="3181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00"/>
                </a:lnSpc>
              </a:pPr>
              <a:r>
                <a:rPr lang="en-US" sz="9000">
                  <a:solidFill>
                    <a:srgbClr val="F8F8F8"/>
                  </a:solidFill>
                  <a:latin typeface="Signika Bold"/>
                </a:rPr>
                <a:t>ACTIVITY DIAGRAM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691170" y="3788261"/>
              <a:ext cx="6915077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31"/>
                </a:lnSpc>
              </a:pPr>
              <a:r>
                <a:rPr lang="en-US" spc="187" sz="1875">
                  <a:solidFill>
                    <a:srgbClr val="F8F8F8"/>
                  </a:solidFill>
                  <a:latin typeface="Montserrat Classic"/>
                </a:rPr>
                <a:t>MADE BY AIYZA JUNAID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691170" y="-38100"/>
              <a:ext cx="6915077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31"/>
                </a:lnSpc>
              </a:pPr>
              <a:r>
                <a:rPr lang="en-US" spc="187" sz="1875">
                  <a:solidFill>
                    <a:srgbClr val="000000"/>
                  </a:solidFill>
                  <a:latin typeface="Montserrat Classic"/>
                </a:rPr>
                <a:t>EST 1995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93531" y="9080897"/>
            <a:ext cx="4575572" cy="316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  <a:spcBef>
                <a:spcPct val="0"/>
              </a:spcBef>
            </a:pPr>
            <a:r>
              <a:rPr lang="en-US" spc="187" sz="1875">
                <a:solidFill>
                  <a:srgbClr val="F8F8F8"/>
                </a:solidFill>
                <a:latin typeface="Montserrat Classic"/>
              </a:rPr>
              <a:t>*ADDING COURSE INFORMATION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" t="0" r="2" b="0"/>
          <a:stretch>
            <a:fillRect/>
          </a:stretch>
        </p:blipFill>
        <p:spPr>
          <a:xfrm flipH="false" flipV="false" rot="0">
            <a:off x="7830204" y="818509"/>
            <a:ext cx="9477246" cy="8649983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933450"/>
            <a:ext cx="6801504" cy="141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1360"/>
              </a:lnSpc>
            </a:pPr>
            <a:r>
              <a:rPr lang="en-US" sz="8672">
                <a:solidFill>
                  <a:srgbClr val="9E6DF7"/>
                </a:solidFill>
                <a:latin typeface="Nunito Sans Regular Bold"/>
              </a:rPr>
              <a:t>Design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83025" y="3569312"/>
            <a:ext cx="6223063" cy="3148377"/>
            <a:chOff x="0" y="0"/>
            <a:chExt cx="8297418" cy="419783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539750"/>
              <a:ext cx="8297418" cy="3181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00"/>
                </a:lnSpc>
              </a:pPr>
              <a:r>
                <a:rPr lang="en-US" sz="9000">
                  <a:solidFill>
                    <a:srgbClr val="F8F8F8"/>
                  </a:solidFill>
                  <a:latin typeface="Signika Bold"/>
                </a:rPr>
                <a:t>ACTIVITY DIAGRAM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691170" y="3788261"/>
              <a:ext cx="6915077" cy="409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31"/>
                </a:lnSpc>
              </a:pPr>
              <a:r>
                <a:rPr lang="en-US" spc="187" sz="1875">
                  <a:solidFill>
                    <a:srgbClr val="F8F8F8"/>
                  </a:solidFill>
                  <a:latin typeface="Montserrat Classic"/>
                </a:rPr>
                <a:t>MADE BY AIYZA JUNAID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691170" y="-38100"/>
              <a:ext cx="6915077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31"/>
                </a:lnSpc>
              </a:pPr>
              <a:r>
                <a:rPr lang="en-US" spc="187" sz="1875">
                  <a:solidFill>
                    <a:srgbClr val="000000"/>
                  </a:solidFill>
                  <a:latin typeface="Montserrat Classic"/>
                </a:rPr>
                <a:t>EST 1995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83025" y="8837460"/>
            <a:ext cx="4623404" cy="631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  <a:spcBef>
                <a:spcPct val="0"/>
              </a:spcBef>
            </a:pPr>
            <a:r>
              <a:rPr lang="en-US" spc="187" sz="1875">
                <a:solidFill>
                  <a:srgbClr val="F8F8F8"/>
                </a:solidFill>
                <a:latin typeface="Montserrat Classic"/>
              </a:rPr>
              <a:t>*ADDING ASSIGNMENTS &amp; QUIZZES DATES IN CALENDER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6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0057711" y="2359923"/>
            <a:ext cx="8949561" cy="5567153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514224" y="0"/>
            <a:ext cx="6637261" cy="2293822"/>
            <a:chOff x="0" y="0"/>
            <a:chExt cx="8849682" cy="305843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896380"/>
              <a:ext cx="8849682" cy="1162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31"/>
                </a:lnSpc>
              </a:pPr>
              <a:r>
                <a:rPr lang="en-US" spc="281" sz="5625">
                  <a:solidFill>
                    <a:srgbClr val="F8F8F8"/>
                  </a:solidFill>
                  <a:latin typeface="League Spartan"/>
                </a:rPr>
                <a:t>ARCHITECTURE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5725"/>
              <a:ext cx="8849682" cy="1511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268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0" y="3595255"/>
            <a:ext cx="10372847" cy="458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FFFFFF"/>
                </a:solidFill>
                <a:latin typeface="Open Sans"/>
              </a:rPr>
              <a:t>It is apt for management system that use a date base for data integrity.</a:t>
            </a:r>
          </a:p>
          <a:p>
            <a:pPr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FFFFFF"/>
                </a:solidFill>
                <a:latin typeface="Open Sans"/>
              </a:rPr>
              <a:t>It supports reusability and evolution of the system.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58212" y="3516984"/>
            <a:ext cx="8371577" cy="3253032"/>
            <a:chOff x="0" y="0"/>
            <a:chExt cx="11162102" cy="433737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690276"/>
              <a:ext cx="11162102" cy="1647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950"/>
                </a:lnSpc>
              </a:pPr>
              <a:r>
                <a:rPr lang="en-US" spc="398" sz="7960">
                  <a:solidFill>
                    <a:srgbClr val="521887"/>
                  </a:solidFill>
                  <a:latin typeface="League Spartan"/>
                </a:rPr>
                <a:t>SCREENSHOTS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33350"/>
              <a:ext cx="11162102" cy="2130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702"/>
                </a:lnSpc>
              </a:pPr>
              <a:r>
                <a:rPr lang="en-US" sz="11144">
                  <a:solidFill>
                    <a:srgbClr val="521887"/>
                  </a:solidFill>
                  <a:latin typeface="Selima"/>
                </a:rPr>
                <a:t>Implementation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6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7577" y="7049230"/>
            <a:ext cx="19273375" cy="3770191"/>
            <a:chOff x="0" y="0"/>
            <a:chExt cx="41640705" cy="8145610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41640705" cy="8145611"/>
            </a:xfrm>
            <a:custGeom>
              <a:avLst/>
              <a:gdLst/>
              <a:ahLst/>
              <a:cxnLst/>
              <a:rect r="r" b="b" t="t" l="l"/>
              <a:pathLst>
                <a:path h="8145611" w="41640705">
                  <a:moveTo>
                    <a:pt x="41516244" y="8145611"/>
                  </a:moveTo>
                  <a:lnTo>
                    <a:pt x="124460" y="8145611"/>
                  </a:lnTo>
                  <a:cubicBezTo>
                    <a:pt x="55880" y="8145611"/>
                    <a:pt x="0" y="8089730"/>
                    <a:pt x="0" y="802115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1516244" y="0"/>
                  </a:lnTo>
                  <a:cubicBezTo>
                    <a:pt x="41584826" y="0"/>
                    <a:pt x="41640705" y="55880"/>
                    <a:pt x="41640705" y="124460"/>
                  </a:cubicBezTo>
                  <a:lnTo>
                    <a:pt x="41640705" y="8021151"/>
                  </a:lnTo>
                  <a:cubicBezTo>
                    <a:pt x="41640705" y="8089730"/>
                    <a:pt x="41584826" y="8145611"/>
                    <a:pt x="41516244" y="8145611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258973" y="350951"/>
            <a:ext cx="10000327" cy="122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0079"/>
              </a:lnSpc>
              <a:spcBef>
                <a:spcPct val="0"/>
              </a:spcBef>
            </a:pPr>
            <a:r>
              <a:rPr lang="en-US" sz="7199">
                <a:solidFill>
                  <a:srgbClr val="F8F8F8"/>
                </a:solidFill>
                <a:latin typeface="Nunito Sans Regular"/>
              </a:rPr>
              <a:t>SIGN UP</a:t>
            </a:r>
          </a:p>
        </p:txBody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808496" y="2515039"/>
            <a:ext cx="12671009" cy="7267937"/>
            <a:chOff x="0" y="0"/>
            <a:chExt cx="7981950" cy="4578350"/>
          </a:xfrm>
        </p:grpSpPr>
        <p:sp>
          <p:nvSpPr>
            <p:cNvPr name="Freeform 6" id="6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E6DF7"/>
            </a:solidFill>
          </p:spPr>
        </p:sp>
        <p:sp>
          <p:nvSpPr>
            <p:cNvPr name="Freeform 8" id="8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521887"/>
            </a:solidFill>
          </p:spPr>
        </p:sp>
        <p:sp>
          <p:nvSpPr>
            <p:cNvPr name="Freeform 9" id="9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21887"/>
            </a:solidFill>
          </p:spPr>
        </p:sp>
        <p:sp>
          <p:nvSpPr>
            <p:cNvPr name="Freeform 10" id="10"/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2"/>
              <a:stretch>
                <a:fillRect l="-2175" r="-2175" t="0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6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7577" y="7049230"/>
            <a:ext cx="19273375" cy="3770191"/>
            <a:chOff x="0" y="0"/>
            <a:chExt cx="41640705" cy="8145610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41640705" cy="8145611"/>
            </a:xfrm>
            <a:custGeom>
              <a:avLst/>
              <a:gdLst/>
              <a:ahLst/>
              <a:cxnLst/>
              <a:rect r="r" b="b" t="t" l="l"/>
              <a:pathLst>
                <a:path h="8145611" w="41640705">
                  <a:moveTo>
                    <a:pt x="41516244" y="8145611"/>
                  </a:moveTo>
                  <a:lnTo>
                    <a:pt x="124460" y="8145611"/>
                  </a:lnTo>
                  <a:cubicBezTo>
                    <a:pt x="55880" y="8145611"/>
                    <a:pt x="0" y="8089730"/>
                    <a:pt x="0" y="802115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1516244" y="0"/>
                  </a:lnTo>
                  <a:cubicBezTo>
                    <a:pt x="41584826" y="0"/>
                    <a:pt x="41640705" y="55880"/>
                    <a:pt x="41640705" y="124460"/>
                  </a:cubicBezTo>
                  <a:lnTo>
                    <a:pt x="41640705" y="8021151"/>
                  </a:lnTo>
                  <a:cubicBezTo>
                    <a:pt x="41640705" y="8089730"/>
                    <a:pt x="41584826" y="8145611"/>
                    <a:pt x="41516244" y="8145611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5987268" y="350951"/>
            <a:ext cx="6313464" cy="122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F8F8F8"/>
                </a:solidFill>
                <a:latin typeface="Nunito Sans Regular"/>
              </a:rPr>
              <a:t>LOGIN PAGE</a:t>
            </a:r>
          </a:p>
        </p:txBody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808496" y="2515039"/>
            <a:ext cx="12671009" cy="7267937"/>
            <a:chOff x="0" y="0"/>
            <a:chExt cx="7981950" cy="4578350"/>
          </a:xfrm>
        </p:grpSpPr>
        <p:sp>
          <p:nvSpPr>
            <p:cNvPr name="Freeform 6" id="6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E6DF7"/>
            </a:solidFill>
          </p:spPr>
        </p:sp>
        <p:sp>
          <p:nvSpPr>
            <p:cNvPr name="Freeform 8" id="8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521887"/>
            </a:solidFill>
          </p:spPr>
        </p:sp>
        <p:sp>
          <p:nvSpPr>
            <p:cNvPr name="Freeform 9" id="9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21887"/>
            </a:solidFill>
          </p:spPr>
        </p:sp>
        <p:sp>
          <p:nvSpPr>
            <p:cNvPr name="Freeform 10" id="10"/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2"/>
              <a:stretch>
                <a:fillRect l="-2220" r="-2220" t="0" b="0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6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7577" y="7049230"/>
            <a:ext cx="19273375" cy="3770191"/>
            <a:chOff x="0" y="0"/>
            <a:chExt cx="41640705" cy="8145610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41640705" cy="8145611"/>
            </a:xfrm>
            <a:custGeom>
              <a:avLst/>
              <a:gdLst/>
              <a:ahLst/>
              <a:cxnLst/>
              <a:rect r="r" b="b" t="t" l="l"/>
              <a:pathLst>
                <a:path h="8145611" w="41640705">
                  <a:moveTo>
                    <a:pt x="41516244" y="8145611"/>
                  </a:moveTo>
                  <a:lnTo>
                    <a:pt x="124460" y="8145611"/>
                  </a:lnTo>
                  <a:cubicBezTo>
                    <a:pt x="55880" y="8145611"/>
                    <a:pt x="0" y="8089730"/>
                    <a:pt x="0" y="802115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1516244" y="0"/>
                  </a:lnTo>
                  <a:cubicBezTo>
                    <a:pt x="41584826" y="0"/>
                    <a:pt x="41640705" y="55880"/>
                    <a:pt x="41640705" y="124460"/>
                  </a:cubicBezTo>
                  <a:lnTo>
                    <a:pt x="41640705" y="8021151"/>
                  </a:lnTo>
                  <a:cubicBezTo>
                    <a:pt x="41640705" y="8089730"/>
                    <a:pt x="41584826" y="8145611"/>
                    <a:pt x="41516244" y="8145611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4143836" y="531427"/>
            <a:ext cx="10000327" cy="122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0079"/>
              </a:lnSpc>
              <a:spcBef>
                <a:spcPct val="0"/>
              </a:spcBef>
            </a:pPr>
            <a:r>
              <a:rPr lang="en-US" sz="7199">
                <a:solidFill>
                  <a:srgbClr val="F8F8F8"/>
                </a:solidFill>
                <a:latin typeface="Nunito Sans Regular"/>
              </a:rPr>
              <a:t>FORGOT PASSWORD</a:t>
            </a:r>
          </a:p>
        </p:txBody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808496" y="2515039"/>
            <a:ext cx="12671009" cy="7267937"/>
            <a:chOff x="0" y="0"/>
            <a:chExt cx="7981950" cy="4578350"/>
          </a:xfrm>
        </p:grpSpPr>
        <p:sp>
          <p:nvSpPr>
            <p:cNvPr name="Freeform 6" id="6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E6DF7"/>
            </a:solidFill>
          </p:spPr>
        </p:sp>
        <p:sp>
          <p:nvSpPr>
            <p:cNvPr name="Freeform 8" id="8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521887"/>
            </a:solidFill>
          </p:spPr>
        </p:sp>
        <p:sp>
          <p:nvSpPr>
            <p:cNvPr name="Freeform 9" id="9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21887"/>
            </a:solidFill>
          </p:spPr>
        </p:sp>
        <p:sp>
          <p:nvSpPr>
            <p:cNvPr name="Freeform 10" id="10"/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2"/>
              <a:stretch>
                <a:fillRect l="-2063" r="-2063" t="0" b="0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6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7577" y="7049230"/>
            <a:ext cx="19273375" cy="3770191"/>
            <a:chOff x="0" y="0"/>
            <a:chExt cx="41640705" cy="8145610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41640705" cy="8145611"/>
            </a:xfrm>
            <a:custGeom>
              <a:avLst/>
              <a:gdLst/>
              <a:ahLst/>
              <a:cxnLst/>
              <a:rect r="r" b="b" t="t" l="l"/>
              <a:pathLst>
                <a:path h="8145611" w="41640705">
                  <a:moveTo>
                    <a:pt x="41516244" y="8145611"/>
                  </a:moveTo>
                  <a:lnTo>
                    <a:pt x="124460" y="8145611"/>
                  </a:lnTo>
                  <a:cubicBezTo>
                    <a:pt x="55880" y="8145611"/>
                    <a:pt x="0" y="8089730"/>
                    <a:pt x="0" y="802115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1516244" y="0"/>
                  </a:lnTo>
                  <a:cubicBezTo>
                    <a:pt x="41584826" y="0"/>
                    <a:pt x="41640705" y="55880"/>
                    <a:pt x="41640705" y="124460"/>
                  </a:cubicBezTo>
                  <a:lnTo>
                    <a:pt x="41640705" y="8021151"/>
                  </a:lnTo>
                  <a:cubicBezTo>
                    <a:pt x="41640705" y="8089730"/>
                    <a:pt x="41584826" y="8145611"/>
                    <a:pt x="41516244" y="8145611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5252473" y="350951"/>
            <a:ext cx="10000327" cy="122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0079"/>
              </a:lnSpc>
              <a:spcBef>
                <a:spcPct val="0"/>
              </a:spcBef>
            </a:pPr>
            <a:r>
              <a:rPr lang="en-US" sz="7199">
                <a:solidFill>
                  <a:srgbClr val="F8F8F8"/>
                </a:solidFill>
                <a:latin typeface="Nunito Sans Regular"/>
              </a:rPr>
              <a:t>NEW PASSWORD</a:t>
            </a:r>
          </a:p>
        </p:txBody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808496" y="2515039"/>
            <a:ext cx="12671009" cy="7267937"/>
            <a:chOff x="0" y="0"/>
            <a:chExt cx="7981950" cy="4578350"/>
          </a:xfrm>
        </p:grpSpPr>
        <p:sp>
          <p:nvSpPr>
            <p:cNvPr name="Freeform 6" id="6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E6DF7"/>
            </a:solidFill>
          </p:spPr>
        </p:sp>
        <p:sp>
          <p:nvSpPr>
            <p:cNvPr name="Freeform 8" id="8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521887"/>
            </a:solidFill>
          </p:spPr>
        </p:sp>
        <p:sp>
          <p:nvSpPr>
            <p:cNvPr name="Freeform 9" id="9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21887"/>
            </a:solidFill>
          </p:spPr>
        </p:sp>
        <p:sp>
          <p:nvSpPr>
            <p:cNvPr name="Freeform 10" id="10"/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2"/>
              <a:stretch>
                <a:fillRect l="-2513" r="-2513" t="0" b="0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6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7577" y="7049230"/>
            <a:ext cx="19273375" cy="3770191"/>
            <a:chOff x="0" y="0"/>
            <a:chExt cx="41640705" cy="8145610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41640705" cy="8145611"/>
            </a:xfrm>
            <a:custGeom>
              <a:avLst/>
              <a:gdLst/>
              <a:ahLst/>
              <a:cxnLst/>
              <a:rect r="r" b="b" t="t" l="l"/>
              <a:pathLst>
                <a:path h="8145611" w="41640705">
                  <a:moveTo>
                    <a:pt x="41516244" y="8145611"/>
                  </a:moveTo>
                  <a:lnTo>
                    <a:pt x="124460" y="8145611"/>
                  </a:lnTo>
                  <a:cubicBezTo>
                    <a:pt x="55880" y="8145611"/>
                    <a:pt x="0" y="8089730"/>
                    <a:pt x="0" y="802115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1516244" y="0"/>
                  </a:lnTo>
                  <a:cubicBezTo>
                    <a:pt x="41584826" y="0"/>
                    <a:pt x="41640705" y="55880"/>
                    <a:pt x="41640705" y="124460"/>
                  </a:cubicBezTo>
                  <a:lnTo>
                    <a:pt x="41640705" y="8021151"/>
                  </a:lnTo>
                  <a:cubicBezTo>
                    <a:pt x="41640705" y="8089730"/>
                    <a:pt x="41584826" y="8145611"/>
                    <a:pt x="41516244" y="8145611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605863" y="2390800"/>
            <a:ext cx="13076273" cy="7059171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6361110" y="350951"/>
            <a:ext cx="10000327" cy="122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0079"/>
              </a:lnSpc>
              <a:spcBef>
                <a:spcPct val="0"/>
              </a:spcBef>
            </a:pPr>
            <a:r>
              <a:rPr lang="en-US" sz="7199">
                <a:solidFill>
                  <a:srgbClr val="F8F8F8"/>
                </a:solidFill>
                <a:latin typeface="Nunito Sans Regular"/>
              </a:rPr>
              <a:t>DASHBOARD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5218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75671" y="4140126"/>
            <a:ext cx="6540393" cy="1670124"/>
            <a:chOff x="0" y="0"/>
            <a:chExt cx="14130715" cy="3608354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14130714" cy="3608354"/>
            </a:xfrm>
            <a:custGeom>
              <a:avLst/>
              <a:gdLst/>
              <a:ahLst/>
              <a:cxnLst/>
              <a:rect r="r" b="b" t="t" l="l"/>
              <a:pathLst>
                <a:path h="3608354" w="14130714">
                  <a:moveTo>
                    <a:pt x="14006255" y="3608354"/>
                  </a:moveTo>
                  <a:lnTo>
                    <a:pt x="124460" y="3608354"/>
                  </a:lnTo>
                  <a:cubicBezTo>
                    <a:pt x="55880" y="3608354"/>
                    <a:pt x="0" y="3552474"/>
                    <a:pt x="0" y="348389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006255" y="0"/>
                  </a:lnTo>
                  <a:cubicBezTo>
                    <a:pt x="14074835" y="0"/>
                    <a:pt x="14130714" y="55880"/>
                    <a:pt x="14130714" y="124460"/>
                  </a:cubicBezTo>
                  <a:lnTo>
                    <a:pt x="14130714" y="3483894"/>
                  </a:lnTo>
                  <a:cubicBezTo>
                    <a:pt x="14130714" y="3552474"/>
                    <a:pt x="14074835" y="3608354"/>
                    <a:pt x="14006255" y="3608354"/>
                  </a:cubicBezTo>
                  <a:close/>
                </a:path>
              </a:pathLst>
            </a:custGeom>
            <a:solidFill>
              <a:srgbClr val="9E6DF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2517211" y="4755622"/>
            <a:ext cx="5457313" cy="40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8F8F8"/>
                </a:solidFill>
                <a:latin typeface="Nunito Sans Regular"/>
              </a:rPr>
              <a:t>QuikSleep For a full night's rest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73804" y="904875"/>
            <a:ext cx="6540393" cy="108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  <a:spcBef>
                <a:spcPct val="0"/>
              </a:spcBef>
            </a:pPr>
            <a:r>
              <a:rPr lang="en-US" sz="6400">
                <a:solidFill>
                  <a:srgbClr val="F8F8F8"/>
                </a:solidFill>
                <a:latin typeface="Nunito Sans Regular"/>
              </a:rPr>
              <a:t>WORK DIVISION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88188" y="4201697"/>
            <a:ext cx="5915358" cy="15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1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9771937" y="4140126"/>
            <a:ext cx="6540393" cy="4557737"/>
            <a:chOff x="0" y="0"/>
            <a:chExt cx="14130715" cy="9847128"/>
          </a:xfrm>
        </p:grpSpPr>
        <p:sp>
          <p:nvSpPr>
            <p:cNvPr name="Freeform 8" id="8"/>
            <p:cNvSpPr/>
            <p:nvPr/>
          </p:nvSpPr>
          <p:spPr>
            <a:xfrm>
              <a:off x="0" y="0"/>
              <a:ext cx="14130714" cy="9847128"/>
            </a:xfrm>
            <a:custGeom>
              <a:avLst/>
              <a:gdLst/>
              <a:ahLst/>
              <a:cxnLst/>
              <a:rect r="r" b="b" t="t" l="l"/>
              <a:pathLst>
                <a:path h="9847128" w="14130714">
                  <a:moveTo>
                    <a:pt x="14006255" y="9847128"/>
                  </a:moveTo>
                  <a:lnTo>
                    <a:pt x="124460" y="9847128"/>
                  </a:lnTo>
                  <a:cubicBezTo>
                    <a:pt x="55880" y="9847128"/>
                    <a:pt x="0" y="9791248"/>
                    <a:pt x="0" y="972266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006255" y="0"/>
                  </a:lnTo>
                  <a:cubicBezTo>
                    <a:pt x="14074835" y="0"/>
                    <a:pt x="14130714" y="55880"/>
                    <a:pt x="14130714" y="124460"/>
                  </a:cubicBezTo>
                  <a:lnTo>
                    <a:pt x="14130714" y="9722669"/>
                  </a:lnTo>
                  <a:cubicBezTo>
                    <a:pt x="14130714" y="9791248"/>
                    <a:pt x="14074835" y="9847128"/>
                    <a:pt x="14006255" y="9847128"/>
                  </a:cubicBezTo>
                  <a:close/>
                </a:path>
              </a:pathLst>
            </a:custGeom>
            <a:solidFill>
              <a:srgbClr val="9E6DF7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084454" y="3616410"/>
            <a:ext cx="5915358" cy="466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1"/>
              </a:lnSpc>
            </a:pPr>
            <a:r>
              <a:rPr lang="en-US" spc="151" sz="3025">
                <a:solidFill>
                  <a:srgbClr val="FFFFFF"/>
                </a:solidFill>
                <a:latin typeface="League Spartan"/>
              </a:rPr>
              <a:t>MUSA HAROON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975671" y="4140126"/>
            <a:ext cx="6540393" cy="4557737"/>
            <a:chOff x="0" y="0"/>
            <a:chExt cx="14130715" cy="9847128"/>
          </a:xfrm>
        </p:grpSpPr>
        <p:sp>
          <p:nvSpPr>
            <p:cNvPr name="Freeform 11" id="11"/>
            <p:cNvSpPr/>
            <p:nvPr/>
          </p:nvSpPr>
          <p:spPr>
            <a:xfrm>
              <a:off x="0" y="0"/>
              <a:ext cx="14130714" cy="9847128"/>
            </a:xfrm>
            <a:custGeom>
              <a:avLst/>
              <a:gdLst/>
              <a:ahLst/>
              <a:cxnLst/>
              <a:rect r="r" b="b" t="t" l="l"/>
              <a:pathLst>
                <a:path h="9847128" w="14130714">
                  <a:moveTo>
                    <a:pt x="14006255" y="9847128"/>
                  </a:moveTo>
                  <a:lnTo>
                    <a:pt x="124460" y="9847128"/>
                  </a:lnTo>
                  <a:cubicBezTo>
                    <a:pt x="55880" y="9847128"/>
                    <a:pt x="0" y="9791248"/>
                    <a:pt x="0" y="972266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006255" y="0"/>
                  </a:lnTo>
                  <a:cubicBezTo>
                    <a:pt x="14074835" y="0"/>
                    <a:pt x="14130714" y="55880"/>
                    <a:pt x="14130714" y="124460"/>
                  </a:cubicBezTo>
                  <a:lnTo>
                    <a:pt x="14130714" y="9722669"/>
                  </a:lnTo>
                  <a:cubicBezTo>
                    <a:pt x="14130714" y="9791248"/>
                    <a:pt x="14074835" y="9847128"/>
                    <a:pt x="14006255" y="9847128"/>
                  </a:cubicBezTo>
                  <a:close/>
                </a:path>
              </a:pathLst>
            </a:custGeom>
            <a:solidFill>
              <a:srgbClr val="9E6DF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288188" y="4451313"/>
            <a:ext cx="5998853" cy="378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8F8F8"/>
                </a:solidFill>
                <a:latin typeface="Nunito Sans Regular"/>
              </a:rPr>
              <a:t>Roles division in iteration 0.</a:t>
            </a:r>
          </a:p>
          <a:p>
            <a:pPr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8F8F8"/>
                </a:solidFill>
                <a:latin typeface="Nunito Sans Regular"/>
              </a:rPr>
              <a:t>5 user stories in each iteration.</a:t>
            </a:r>
          </a:p>
          <a:p>
            <a:pPr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8F8F8"/>
                </a:solidFill>
                <a:latin typeface="Nunito Sans Regular"/>
              </a:rPr>
              <a:t>Structured requirement specification in Iteration 1.</a:t>
            </a:r>
          </a:p>
          <a:p>
            <a:pPr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8F8F8"/>
                </a:solidFill>
                <a:latin typeface="Nunito Sans Regular"/>
              </a:rPr>
              <a:t>Sequence diagram in Iteration 2.</a:t>
            </a:r>
          </a:p>
          <a:p>
            <a:pPr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8F8F8"/>
                </a:solidFill>
                <a:latin typeface="Nunito Sans Regular"/>
              </a:rPr>
              <a:t>Dashboard and logout in Iteration 3.</a:t>
            </a:r>
          </a:p>
          <a:p>
            <a:pPr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8F8F8"/>
                </a:solidFill>
                <a:latin typeface="Nunito Sans Regular"/>
              </a:rPr>
              <a:t>Presentation slides in Iteration3.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88188" y="3616410"/>
            <a:ext cx="5915358" cy="466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1"/>
              </a:lnSpc>
            </a:pPr>
            <a:r>
              <a:rPr lang="en-US" spc="151" sz="3025">
                <a:solidFill>
                  <a:srgbClr val="FFFFFF"/>
                </a:solidFill>
                <a:latin typeface="League Spartan"/>
              </a:rPr>
              <a:t>ALI HAMZA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00959" y="4500659"/>
            <a:ext cx="5998853" cy="378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8F8F8"/>
                </a:solidFill>
                <a:latin typeface="Nunito Sans Regular"/>
              </a:rPr>
              <a:t>Modular breakdown in iteration 0.</a:t>
            </a:r>
          </a:p>
          <a:p>
            <a:pPr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8F8F8"/>
                </a:solidFill>
                <a:latin typeface="Nunito Sans Regular"/>
              </a:rPr>
              <a:t>5 user stories in each iteration.</a:t>
            </a:r>
          </a:p>
          <a:p>
            <a:pPr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8F8F8"/>
                </a:solidFill>
                <a:latin typeface="Nunito Sans Regular"/>
              </a:rPr>
              <a:t>Structured requirement specification in Iteration 1.</a:t>
            </a:r>
          </a:p>
          <a:p>
            <a:pPr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8F8F8"/>
                </a:solidFill>
                <a:latin typeface="Nunito Sans Regular"/>
              </a:rPr>
              <a:t>Burn Down chart and scrum board.</a:t>
            </a:r>
          </a:p>
          <a:p>
            <a:pPr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8F8F8"/>
                </a:solidFill>
                <a:latin typeface="Nunito Sans Regular"/>
              </a:rPr>
              <a:t>Class diagram in Iteration 2.</a:t>
            </a:r>
          </a:p>
          <a:p>
            <a:pPr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8F8F8"/>
                </a:solidFill>
                <a:latin typeface="Nunito Sans Regular"/>
              </a:rPr>
              <a:t>Login/signup/forgot password in Iteration 3.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75671" y="4140126"/>
            <a:ext cx="6540393" cy="1670124"/>
            <a:chOff x="0" y="0"/>
            <a:chExt cx="14130715" cy="3608354"/>
          </a:xfrm>
        </p:grpSpPr>
        <p:sp>
          <p:nvSpPr>
            <p:cNvPr name="Freeform 3" id="3"/>
            <p:cNvSpPr/>
            <p:nvPr/>
          </p:nvSpPr>
          <p:spPr>
            <a:xfrm>
              <a:off x="0" y="0"/>
              <a:ext cx="14130714" cy="3608354"/>
            </a:xfrm>
            <a:custGeom>
              <a:avLst/>
              <a:gdLst/>
              <a:ahLst/>
              <a:cxnLst/>
              <a:rect r="r" b="b" t="t" l="l"/>
              <a:pathLst>
                <a:path h="3608354" w="14130714">
                  <a:moveTo>
                    <a:pt x="14006255" y="3608354"/>
                  </a:moveTo>
                  <a:lnTo>
                    <a:pt x="124460" y="3608354"/>
                  </a:lnTo>
                  <a:cubicBezTo>
                    <a:pt x="55880" y="3608354"/>
                    <a:pt x="0" y="3552474"/>
                    <a:pt x="0" y="348389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006255" y="0"/>
                  </a:lnTo>
                  <a:cubicBezTo>
                    <a:pt x="14074835" y="0"/>
                    <a:pt x="14130714" y="55880"/>
                    <a:pt x="14130714" y="124460"/>
                  </a:cubicBezTo>
                  <a:lnTo>
                    <a:pt x="14130714" y="3483894"/>
                  </a:lnTo>
                  <a:cubicBezTo>
                    <a:pt x="14130714" y="3552474"/>
                    <a:pt x="14074835" y="3608354"/>
                    <a:pt x="14006255" y="3608354"/>
                  </a:cubicBezTo>
                  <a:close/>
                </a:path>
              </a:pathLst>
            </a:custGeom>
            <a:solidFill>
              <a:srgbClr val="9E6DF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2517211" y="4755622"/>
            <a:ext cx="5457313" cy="40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8F8F8"/>
                </a:solidFill>
                <a:latin typeface="Nunito Sans Regular"/>
              </a:rPr>
              <a:t>QuikSleep For a full night's rest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73804" y="900891"/>
            <a:ext cx="6540393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521887"/>
                </a:solidFill>
                <a:latin typeface="Nunito Sans Regular"/>
              </a:rPr>
              <a:t>WORK DIVISION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88188" y="4201697"/>
            <a:ext cx="5915358" cy="15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1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9771937" y="4140126"/>
            <a:ext cx="6540393" cy="4557737"/>
            <a:chOff x="0" y="0"/>
            <a:chExt cx="14130715" cy="9847128"/>
          </a:xfrm>
        </p:grpSpPr>
        <p:sp>
          <p:nvSpPr>
            <p:cNvPr name="Freeform 8" id="8"/>
            <p:cNvSpPr/>
            <p:nvPr/>
          </p:nvSpPr>
          <p:spPr>
            <a:xfrm>
              <a:off x="0" y="0"/>
              <a:ext cx="14130714" cy="9847128"/>
            </a:xfrm>
            <a:custGeom>
              <a:avLst/>
              <a:gdLst/>
              <a:ahLst/>
              <a:cxnLst/>
              <a:rect r="r" b="b" t="t" l="l"/>
              <a:pathLst>
                <a:path h="9847128" w="14130714">
                  <a:moveTo>
                    <a:pt x="14006255" y="9847128"/>
                  </a:moveTo>
                  <a:lnTo>
                    <a:pt x="124460" y="9847128"/>
                  </a:lnTo>
                  <a:cubicBezTo>
                    <a:pt x="55880" y="9847128"/>
                    <a:pt x="0" y="9791248"/>
                    <a:pt x="0" y="972266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006255" y="0"/>
                  </a:lnTo>
                  <a:cubicBezTo>
                    <a:pt x="14074835" y="0"/>
                    <a:pt x="14130714" y="55880"/>
                    <a:pt x="14130714" y="124460"/>
                  </a:cubicBezTo>
                  <a:lnTo>
                    <a:pt x="14130714" y="9722669"/>
                  </a:lnTo>
                  <a:cubicBezTo>
                    <a:pt x="14130714" y="9791248"/>
                    <a:pt x="14074835" y="9847128"/>
                    <a:pt x="14006255" y="9847128"/>
                  </a:cubicBezTo>
                  <a:close/>
                </a:path>
              </a:pathLst>
            </a:custGeom>
            <a:solidFill>
              <a:srgbClr val="521887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084454" y="3616410"/>
            <a:ext cx="5915358" cy="466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1"/>
              </a:lnSpc>
            </a:pPr>
            <a:r>
              <a:rPr lang="en-US" spc="151" sz="3025">
                <a:solidFill>
                  <a:srgbClr val="521887"/>
                </a:solidFill>
                <a:latin typeface="League Spartan"/>
              </a:rPr>
              <a:t>MUNEER AHMAD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975671" y="4140126"/>
            <a:ext cx="6540393" cy="4557737"/>
            <a:chOff x="0" y="0"/>
            <a:chExt cx="14130715" cy="9847128"/>
          </a:xfrm>
        </p:grpSpPr>
        <p:sp>
          <p:nvSpPr>
            <p:cNvPr name="Freeform 11" id="11"/>
            <p:cNvSpPr/>
            <p:nvPr/>
          </p:nvSpPr>
          <p:spPr>
            <a:xfrm>
              <a:off x="0" y="0"/>
              <a:ext cx="14130714" cy="9847128"/>
            </a:xfrm>
            <a:custGeom>
              <a:avLst/>
              <a:gdLst/>
              <a:ahLst/>
              <a:cxnLst/>
              <a:rect r="r" b="b" t="t" l="l"/>
              <a:pathLst>
                <a:path h="9847128" w="14130714">
                  <a:moveTo>
                    <a:pt x="14006255" y="9847128"/>
                  </a:moveTo>
                  <a:lnTo>
                    <a:pt x="124460" y="9847128"/>
                  </a:lnTo>
                  <a:cubicBezTo>
                    <a:pt x="55880" y="9847128"/>
                    <a:pt x="0" y="9791248"/>
                    <a:pt x="0" y="972266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006255" y="0"/>
                  </a:lnTo>
                  <a:cubicBezTo>
                    <a:pt x="14074835" y="0"/>
                    <a:pt x="14130714" y="55880"/>
                    <a:pt x="14130714" y="124460"/>
                  </a:cubicBezTo>
                  <a:lnTo>
                    <a:pt x="14130714" y="9722669"/>
                  </a:lnTo>
                  <a:cubicBezTo>
                    <a:pt x="14130714" y="9791248"/>
                    <a:pt x="14074835" y="9847128"/>
                    <a:pt x="14006255" y="9847128"/>
                  </a:cubicBezTo>
                  <a:close/>
                </a:path>
              </a:pathLst>
            </a:custGeom>
            <a:solidFill>
              <a:srgbClr val="52188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288188" y="4262534"/>
            <a:ext cx="5998853" cy="426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8F8F8"/>
                </a:solidFill>
                <a:latin typeface="Nunito Sans Regular"/>
              </a:rPr>
              <a:t>Features and constraints in iteration 0.</a:t>
            </a:r>
          </a:p>
          <a:p>
            <a:pPr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8F8F8"/>
                </a:solidFill>
                <a:latin typeface="Nunito Sans Regular"/>
              </a:rPr>
              <a:t>5 user stories in each iteration.</a:t>
            </a:r>
          </a:p>
          <a:p>
            <a:pPr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8F8F8"/>
                </a:solidFill>
                <a:latin typeface="Nunito Sans Regular"/>
              </a:rPr>
              <a:t>Structured requirement specification in Iteration 1.</a:t>
            </a:r>
          </a:p>
          <a:p>
            <a:pPr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8F8F8"/>
                </a:solidFill>
                <a:latin typeface="Nunito Sans Regular"/>
              </a:rPr>
              <a:t>Activity diagram in Iteration 2.</a:t>
            </a:r>
          </a:p>
          <a:p>
            <a:pPr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8F8F8"/>
                </a:solidFill>
                <a:latin typeface="Nunito Sans Regular"/>
              </a:rPr>
              <a:t>Architecture and test cases.</a:t>
            </a:r>
          </a:p>
          <a:p>
            <a:pPr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8F8F8"/>
                </a:solidFill>
                <a:latin typeface="Nunito Sans Regular"/>
              </a:rPr>
              <a:t>Document compilation in each iteration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88188" y="3616410"/>
            <a:ext cx="5915358" cy="466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1"/>
              </a:lnSpc>
            </a:pPr>
            <a:r>
              <a:rPr lang="en-US" spc="151" sz="3025">
                <a:solidFill>
                  <a:srgbClr val="521887"/>
                </a:solidFill>
                <a:latin typeface="League Spartan"/>
              </a:rPr>
              <a:t>AIYZA JUNAID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00959" y="4500659"/>
            <a:ext cx="5998853" cy="378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8F8F8"/>
                </a:solidFill>
                <a:latin typeface="Nunito Sans Regular"/>
              </a:rPr>
              <a:t>Scope and requirements in iteration 0.</a:t>
            </a:r>
          </a:p>
          <a:p>
            <a:pPr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8F8F8"/>
                </a:solidFill>
                <a:latin typeface="Nunito Sans Regular"/>
              </a:rPr>
              <a:t>5 user stories in each iteration.</a:t>
            </a:r>
          </a:p>
          <a:p>
            <a:pPr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8F8F8"/>
                </a:solidFill>
                <a:latin typeface="Nunito Sans Regular"/>
              </a:rPr>
              <a:t>Structured requirement specification in Iteration 1.</a:t>
            </a:r>
          </a:p>
          <a:p>
            <a:pPr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8F8F8"/>
                </a:solidFill>
                <a:latin typeface="Nunito Sans Regular"/>
              </a:rPr>
              <a:t>Use case diagram in Iteration 2.</a:t>
            </a:r>
          </a:p>
          <a:p>
            <a:pPr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8F8F8"/>
                </a:solidFill>
                <a:latin typeface="Nunito Sans Regular"/>
              </a:rPr>
              <a:t>Final user stories compilation in Iteration 3.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9E6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35144" y="3620132"/>
            <a:ext cx="9217712" cy="28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19"/>
              </a:lnSpc>
              <a:spcBef>
                <a:spcPct val="0"/>
              </a:spcBef>
            </a:pPr>
            <a:r>
              <a:rPr lang="en-US" sz="8299">
                <a:solidFill>
                  <a:srgbClr val="F8F8F8"/>
                </a:solidFill>
                <a:latin typeface="Nunito Sans Regular"/>
              </a:rPr>
              <a:t>THE LESSONS WE'VE LEARNED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6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21105" r="0" b="21105"/>
          <a:stretch>
            <a:fillRect/>
          </a:stretch>
        </p:blipFill>
        <p:spPr>
          <a:xfrm flipH="false" flipV="false" rot="0">
            <a:off x="0" y="0"/>
            <a:ext cx="18288000" cy="7054445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4974555" y="6212242"/>
            <a:ext cx="8338890" cy="3534613"/>
            <a:chOff x="0" y="0"/>
            <a:chExt cx="11118520" cy="471281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886855"/>
              <a:ext cx="11118520" cy="28259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406"/>
                </a:lnSpc>
              </a:pPr>
              <a:r>
                <a:rPr lang="en-US" spc="336" sz="6724">
                  <a:solidFill>
                    <a:srgbClr val="FFFFFF"/>
                  </a:solidFill>
                  <a:latin typeface="League Spartan"/>
                </a:rPr>
                <a:t>FEEL FREE TO ASK QUESTIONS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5725"/>
              <a:ext cx="11118520" cy="1511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268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DAFBx-KVX-c</dc:identifier>
  <dcterms:modified xsi:type="dcterms:W3CDTF">2011-08-01T06:04:30Z</dcterms:modified>
  <cp:revision>1</cp:revision>
  <dc:title>Project Presentation</dc:title>
</cp:coreProperties>
</file>